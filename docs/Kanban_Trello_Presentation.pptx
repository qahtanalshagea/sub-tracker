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نقاط الجهد</c:v>
                </c:pt>
              </c:strCache>
            </c:strRef>
          </c:tx>
          <c:spPr>
            <a:solidFill>
              <a:srgbClr val="1522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2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22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22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22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22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224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قحطان</c:v>
                  </c:pt>
                  <c:pt idx="1">
                    <c:v>أواب</c:v>
                  </c:pt>
                  <c:pt idx="2">
                    <c:v>مشعل</c:v>
                  </c:pt>
                  <c:pt idx="3">
                    <c:v>محمد العيدروس</c:v>
                  </c:pt>
                  <c:pt idx="4">
                    <c:v>محمد العواضي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26</c:v>
                </c:pt>
                <c:pt idx="2">
                  <c:v>29</c:v>
                </c:pt>
                <c:pt idx="3">
                  <c:v>18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2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2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F1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سلايد العنوان: عرّف بالفريق وبهدف الجلسة — كيف نحوّل المتطلبات إلى مهام مرئية ومتابَعة.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الفرق بين التخطيط والمتابعة: القائمة تجيب عن «ماذا»، واللوحة تجيب عن «أين وصلنا».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أن لكل عمود شرط دخول، وأن العمود بلا شرط يتحول إلى سلة مهملات.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النقاط تقدير نسبي للجهد لا ساعات عمل. نراجعها في جلسة التنقيح الأسبوعية.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اعرض الدورة عملياً على الشاشة إن أمكن: أنشئ فرعاً، التزم، ارفع، افتح طلب دمج.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E326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108960" cy="3108960"/>
          </a:xfrm>
          <a:prstGeom prst="ellipse">
            <a:avLst/>
          </a:prstGeom>
          <a:solidFill>
            <a:srgbClr val="1E326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749808" cy="7498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965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دليل تشغيلي للفريق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3774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كانبان وتنظيم العمل الجماعي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91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نرتّب المهام على تريلو و GitHub Projects، ونديرها بـ Git حتى الدمج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058400" y="3977640"/>
            <a:ext cx="1463040" cy="457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4251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Sub Tracker · مقرر هندسة البرمجيات · 2026/2027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120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إعداد: قحطان الشاجع · أواب النزيلي · مشعل حاجب · محمد العيدروس · محمد العواضي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4864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إشراف: المهندس ساهر الهمداني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المفاهيم الأساسية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الأعمال أم لوحة المتابعة؟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55080" y="1600200"/>
            <a:ext cx="5166360" cy="3246120"/>
          </a:xfrm>
          <a:prstGeom prst="roundRect">
            <a:avLst>
              <a:gd name="adj" fmla="val 3380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1874520"/>
            <a:ext cx="566928" cy="566928"/>
          </a:xfrm>
          <a:prstGeom prst="ellipse">
            <a:avLst/>
          </a:prstGeom>
          <a:solidFill>
            <a:srgbClr val="1522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2940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— قائمة الأعمال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سننفّذ؟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283464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كل ما نريد إنجازه مرتباً بالأولوية</a:t>
            </a:r>
            <a:endParaRPr lang="en-US" sz="1400" dirty="0"/>
          </a:p>
          <a:p>
            <a:pPr algn="r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وجود بند فيها لا يعني أن أحداً بدأ</a:t>
            </a:r>
            <a:endParaRPr lang="en-US" sz="1400" dirty="0"/>
          </a:p>
          <a:p>
            <a:pPr algn="r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يملكها قائد الفريق ويرتّبها أسبوعياً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1600200"/>
            <a:ext cx="5166360" cy="3246120"/>
          </a:xfrm>
          <a:prstGeom prst="roundRect">
            <a:avLst>
              <a:gd name="adj" fmla="val 3380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83480" y="1874520"/>
            <a:ext cx="566928" cy="566928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11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1440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Board — لوحة المتابعة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وصلت المهمة؟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914400" y="283464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صورة لحالة العمل الجاري الآن</a:t>
            </a:r>
            <a:endParaRPr lang="en-US" sz="1400" dirty="0"/>
          </a:p>
          <a:p>
            <a:pPr algn="r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لا تدخلها مهمة غامضة أو بلا مالك</a:t>
            </a:r>
            <a:endParaRPr lang="en-US" sz="1400" dirty="0"/>
          </a:p>
          <a:p>
            <a:pPr algn="r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يحرّكها صاحب المهمة يومياً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5120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القاعدة: لا تُنفَّذ مهمة ليست في قائمة الأعمال، ولا تبقى في اللوحة مهمة غامضة.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83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0" y="6400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Tracker · لوحة كانبان ودورة العمل التشاركية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بنية اللوحة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أعمدة اللوحة الستة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001000" y="164592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0" y="1847088"/>
            <a:ext cx="457200" cy="457200"/>
          </a:xfrm>
          <a:prstGeom prst="ellipse">
            <a:avLst/>
          </a:prstGeom>
          <a:solidFill>
            <a:srgbClr val="1522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89920" y="19019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18653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ما نريد إنجازه لاحقاً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شرط الدخول: وصف مختصر وقيمة واضحة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86600" y="1847088"/>
            <a:ext cx="457200" cy="457200"/>
          </a:xfrm>
          <a:prstGeom prst="ellipse">
            <a:avLst/>
          </a:prstGeom>
          <a:solidFill>
            <a:srgbClr val="1522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86600" y="19019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18653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Dev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جاهزة للبدء فوراً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شرط الدخول: معايير قبول ومالك بلا اعتماديات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164592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847088"/>
            <a:ext cx="457200" cy="457200"/>
          </a:xfrm>
          <a:prstGeom prst="ellipse">
            <a:avLst/>
          </a:prstGeom>
          <a:solidFill>
            <a:srgbClr val="1522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383280" y="19019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18653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يجري العمل عليها الآن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شرط الدخول: فرع Git مفتوح باسم المهمة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01000" y="374904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89920" y="3950208"/>
            <a:ext cx="457200" cy="457200"/>
          </a:xfrm>
          <a:prstGeom prst="ellipse">
            <a:avLst/>
          </a:prstGeom>
          <a:solidFill>
            <a:srgbClr val="1522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789920" y="40050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39684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434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تنتظر المراجعة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شرط الدخول: طلب دمج وفحص آلي ناجح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374904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86600" y="3950208"/>
            <a:ext cx="457200" cy="457200"/>
          </a:xfrm>
          <a:prstGeom prst="ellipse">
            <a:avLst/>
          </a:prstGeom>
          <a:solidFill>
            <a:srgbClr val="1522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086600" y="40050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39684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/ QA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526280" y="4434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تحقق وظيفي وحالات حافة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2628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شرط الدخول: اعتماد المراجع للكود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" y="374904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3950208"/>
            <a:ext cx="457200" cy="457200"/>
          </a:xfrm>
          <a:prstGeom prst="ellipse">
            <a:avLst/>
          </a:prstGeom>
          <a:solidFill>
            <a:srgbClr val="15224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383280" y="40050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39684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4434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منجزة ومدموجة ومغلقة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شرط الدخول: استيفاء تعريف الإنجاز كاملاً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83"/>
                </a:solidFill>
              </a:rPr>
              <a:t>3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0" y="6400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Tracker · لوحة كانبان ودورة العمل التشاركية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الانضباط اليومي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اللوحة الملزمة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27080" y="1737360"/>
            <a:ext cx="566928" cy="566928"/>
          </a:xfrm>
          <a:prstGeom prst="ellipse">
            <a:avLst/>
          </a:prstGeom>
          <a:solidFill>
            <a:srgbClr val="DCE6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18745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71907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 العمل الجاري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208483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مهمتان كحد أقصى لكل عضو في عمود التنفيذ. ومن بلغ الحد يراجع عمل غيره بدل سحب مهمة ثالثة.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212080" y="1737360"/>
            <a:ext cx="566928" cy="566928"/>
          </a:xfrm>
          <a:prstGeom prst="ellipse">
            <a:avLst/>
          </a:prstGeom>
          <a:solidFill>
            <a:srgbClr val="DCE6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87452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171907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السحب لا الدفع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208483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يسحب العضو مهمته التالية بنفسه حين يفرغ، ولا تُلقى عليه من فوق.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10927080" y="3200400"/>
            <a:ext cx="566928" cy="566928"/>
          </a:xfrm>
          <a:prstGeom prst="ellipse">
            <a:avLst/>
          </a:prstGeom>
          <a:solidFill>
            <a:srgbClr val="DCE6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33756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46520" y="318211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تحديث يومي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46520" y="354787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عضو يحرّك بطاقاته ويكتب سطراً عمّا أنجزه وما يعيقه. وبطاقة لم تتحرك ثلاثة أيام تُناقَش.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212080" y="3200400"/>
            <a:ext cx="566928" cy="566928"/>
          </a:xfrm>
          <a:prstGeom prst="ellipse">
            <a:avLst/>
          </a:prstGeom>
          <a:solidFill>
            <a:srgbClr val="DCE6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333756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" y="318211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= فرع = طلب دمج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731520" y="354787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خلط مهمتين في فرع واحد يُفسد المراجعة ويجعل التراجع مستحيلاً.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10927080" y="4663440"/>
            <a:ext cx="566928" cy="566928"/>
          </a:xfrm>
          <a:prstGeom prst="ellipse">
            <a:avLst/>
          </a:prstGeom>
          <a:solidFill>
            <a:srgbClr val="DCE6F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480060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46520" y="464515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المهمة المعطَّلة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46520" y="501091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تُوسم بلصيقة blocked مع ذكر ما تنتظره، وتبقى مكانها ولا تُعاد إلى الخلف.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5212080" y="4663440"/>
            <a:ext cx="566928" cy="566928"/>
          </a:xfrm>
          <a:prstGeom prst="ellipse">
            <a:avLst/>
          </a:prstGeom>
          <a:solidFill>
            <a:srgbClr val="DCE6FA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4800600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31520" y="464515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بطاقة بلا مالك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731520" y="501091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المالك شخص واحد لا اثنان، فالمسؤولية المشتركة في التفاصيل تعني ألا يتحرك أحد.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6400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83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5486400" y="6400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Tracker · لوحة كانبان ودورة العمل التشاركية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الإعداد العملي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اللوحة على تريلو خطوة بخطوة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1819656"/>
            <a:ext cx="457200" cy="45720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44200" y="18745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230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أنشئ مساحة العمل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783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باسم الفريق، ثم لوحة باسم Sub Tracker، ودعوة الأعضاء الخمسة إليها.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44200" y="2752344"/>
            <a:ext cx="457200" cy="45720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44200" y="28072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230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أضف القوائم الست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7157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بالأسماء نفسها وبالترتيب نفسه، من اليمين إلى اليسار حسب تدفق العمل.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11296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3685032"/>
            <a:ext cx="457200" cy="45720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744200" y="373989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230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3630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أنشئ اللصائق الملوّنة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64845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معمارية · دومين · بيانات · واجهة · جودة · توثيق · معطّلة · أولوية حرجة.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443984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44200" y="4617720"/>
            <a:ext cx="457200" cy="45720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744200" y="46725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230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45628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جهّز بطاقة نموذجية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58114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عنوان ووصف وقائمة تحقق بمعايير الاكتمال وتاريخ استحقاق ومالك واحد.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376672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44200" y="5550408"/>
            <a:ext cx="457200" cy="45720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744200" y="56052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230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54955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اربط البطاقة بالمستودع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55138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ألصق رابط المهمة على GitHub داخل وصف البطاقة حتى لا تتناقض الأداتان.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83"/>
                </a:solidFill>
              </a:rPr>
              <a:t>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6400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Tracker · لوحة كانبان ودورة العمل التشاركية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الإعداد العملي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البديل: GitHub Projects داخل المستودع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001000" y="16459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1874520"/>
            <a:ext cx="512064" cy="512064"/>
          </a:xfrm>
          <a:prstGeom prst="ellipse">
            <a:avLst/>
          </a:prstGeom>
          <a:solidFill>
            <a:srgbClr val="1522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16" y="20025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0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أنشئ المشروع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39572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تبويب Projects داخل المستودع، ثم New project بقالب Board.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6459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40880" y="1874520"/>
            <a:ext cx="512064" cy="512064"/>
          </a:xfrm>
          <a:prstGeom prst="ellipse">
            <a:avLst/>
          </a:prstGeom>
          <a:solidFill>
            <a:srgbClr val="1522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896" y="200253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اضبط الأعمدة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39572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احذف الأعمدة الافتراضية وأنشئ الأعمدة الستة بترتيبها.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16459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337560" y="1874520"/>
            <a:ext cx="512064" cy="512064"/>
          </a:xfrm>
          <a:prstGeom prst="ellipse">
            <a:avLst/>
          </a:prstGeom>
          <a:solidFill>
            <a:srgbClr val="1522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76" y="200253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" y="1901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أضف الحقول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239572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الأولوية، نقاط الجهد، نوع العمل، المالك — حقول مخصصة تُظهرها اللوحة.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001000" y="36576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744200" y="3886200"/>
            <a:ext cx="512064" cy="512064"/>
          </a:xfrm>
          <a:prstGeom prst="ellipse">
            <a:avLst/>
          </a:prstGeom>
          <a:solidFill>
            <a:srgbClr val="1522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2216" y="401421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0" y="3913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اربط المهام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0" y="44074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أنشئ المهام Issues ثم اربط كلاً منها باللوحة من حقل Projects بداخلها.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297680" y="36576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040880" y="3886200"/>
            <a:ext cx="512064" cy="512064"/>
          </a:xfrm>
          <a:prstGeom prst="ellipse">
            <a:avLst/>
          </a:prstGeom>
          <a:solidFill>
            <a:srgbClr val="15224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401421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3913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فعّل الأتمتة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4074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نقل البطاقة إلى المراجعة عند فتح طلب دمج، وإلى المنجَز عند إغلاق المهمة.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الميزة الحاسمة: البطاقة والشيفرة في مكان واحد، فتتحرك اللوحة تلقائياً مع طلبات الدمج.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400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83"/>
                </a:solidFill>
              </a:rPr>
              <a:t>6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5486400" y="6400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Tracker · لوحة كانبان ودورة العمل التشاركية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يفعل ماذا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توزيع المسؤوليات على الفريق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180136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DCE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23960" y="18653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قحطان الشاجع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74650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المعمارية والحوكمة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74650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المستودع · حماية الفروع · ملفات الوكيل · المخطط · التكامل المستمر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88366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83"/>
                </a:solidFill>
              </a:rPr>
              <a:t>C-01 → C-06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32520" y="273405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DCE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23960" y="27980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أواب النزيلي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791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الدومين والعقود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267919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الكيانات · قواعد التحقق · حالات الاستخدام · محرك الحسابات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2816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83"/>
                </a:solidFill>
              </a:rPr>
              <a:t>C-07 → C-10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93008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32520" y="366674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DCE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23960" y="3730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مشعل حاجب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611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التخزين المحلي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361188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الجداول · كائنات الوصول · المستودعات · النسخ الاحتياطي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3749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83"/>
                </a:solidFill>
              </a:rPr>
              <a:t>C-11 → C-14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425696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32520" y="459943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DCE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823960" y="4663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العيدروس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45445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 والتجربة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2011680" y="454456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التصميم · الشاشات وحالاتها الأربع · التفاعلات والتجاوب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6817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83"/>
                </a:solidFill>
              </a:rPr>
              <a:t>C-15 → C-17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358384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2520" y="55321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DCE6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823960" y="5596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العواضي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54772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الجودة والاختبار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2011680" y="547725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الاختبار · حالات الحافة · التغطية · مراجعة الطلبات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" y="561441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83"/>
                </a:solidFill>
              </a:rPr>
              <a:t>C-18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83"/>
                </a:solidFill>
              </a:rPr>
              <a:t>7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0" y="6400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Tracker · لوحة كانبان ودورة العمل التشاركية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نقاط الجهد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العمل المقدَّر لكل عضو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60020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نقرأ الأرقام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28600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المجموع 102 نقطة موزعة على 18 بطاقة.</a:t>
            </a:r>
            <a:endParaRPr lang="en-US" sz="1250" dirty="0"/>
          </a:p>
          <a:p>
            <a:pPr algn="r"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حمل التخزين والدومين أعلى لأن قلب المنطق فيهما.</a:t>
            </a:r>
            <a:endParaRPr lang="en-US" sz="1250" dirty="0"/>
          </a:p>
          <a:p>
            <a:pPr algn="r"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بطاقة الجودة واحدة لكنها تمتد مع المشروع كله.</a:t>
            </a:r>
            <a:endParaRPr lang="en-US" sz="1250" dirty="0"/>
          </a:p>
          <a:p>
            <a:pPr algn="r"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التفاوت مقبول ما دام أحد لا ينتظر عاطلاً.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83"/>
                </a:solidFill>
              </a:rPr>
              <a:t>8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6400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Tracker · لوحة كانبان ودورة العمل التشاركية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التنفيذ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الإنجاز والاعتماديات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921240" y="187452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1522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21240" y="2011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24C"/>
                </a:solidFill>
              </a:rPr>
              <a:t>C-01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12680" y="23317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تأسيس المستودع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756648" y="2395728"/>
            <a:ext cx="164592" cy="457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8" name="Shape 6"/>
          <p:cNvSpPr/>
          <p:nvPr/>
        </p:nvSpPr>
        <p:spPr>
          <a:xfrm>
            <a:off x="8156448" y="187452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1522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56448" y="2011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24C"/>
                </a:solidFill>
              </a:rPr>
              <a:t>C-04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47888" y="23317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الوثائق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91856" y="2395728"/>
            <a:ext cx="164592" cy="457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2" name="Shape 10"/>
          <p:cNvSpPr/>
          <p:nvPr/>
        </p:nvSpPr>
        <p:spPr>
          <a:xfrm>
            <a:off x="6391656" y="187452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1522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91656" y="2011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24C"/>
                </a:solidFill>
              </a:rPr>
              <a:t>C-05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23317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مخطط القاعدة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27064" y="2395728"/>
            <a:ext cx="164592" cy="457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6" name="Shape 14"/>
          <p:cNvSpPr/>
          <p:nvPr/>
        </p:nvSpPr>
        <p:spPr>
          <a:xfrm>
            <a:off x="4626864" y="187452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1522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26864" y="2011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24C"/>
                </a:solidFill>
              </a:rPr>
              <a:t>C-09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718304" y="23317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العقود وحالات الاستخدام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62272" y="2395728"/>
            <a:ext cx="164592" cy="457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20" name="Shape 18"/>
          <p:cNvSpPr/>
          <p:nvPr/>
        </p:nvSpPr>
        <p:spPr>
          <a:xfrm>
            <a:off x="2862072" y="187452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1522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62072" y="2011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24C"/>
                </a:solidFill>
              </a:rPr>
              <a:t>C-13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953512" y="23317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المستودعات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97480" y="2395728"/>
            <a:ext cx="164592" cy="457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7280" y="1874520"/>
            <a:ext cx="1600200" cy="1097280"/>
          </a:xfrm>
          <a:prstGeom prst="roundRect">
            <a:avLst>
              <a:gd name="adj" fmla="val 8333"/>
            </a:avLst>
          </a:prstGeom>
          <a:solidFill>
            <a:srgbClr val="1522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97280" y="2011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24C"/>
                </a:solidFill>
              </a:rPr>
              <a:t>C-18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23317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 الشامل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154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الحرج: أي تأخر في هذه السلسلة يؤخر التسليم كله، وما خرج عنها يمكن امتصاصه.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001000" y="37490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متوازٍ: الواجهة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43434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C-15 نظام التصميم ← C-16 الشاشات ← C-17 التفاعلات. يسير مستقلاً شرط استقرار العقود.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97680" y="37490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2628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متوازٍ: التخزين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26280" y="43434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C-11 الجداول ← C-12 كائنات الوصول. يلتقي بالدومين عند C-13.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" y="37490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الحوكمة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43434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C-02 حماية الفروع ← C-06 التكامل المستمر. يُنجز مبكراً لأنه يحمي كل ما بعده.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83"/>
                </a:solidFill>
              </a:rPr>
              <a:t>9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0" y="6400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Tracker · لوحة كانبان ودورة العمل التشاركية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العمل على Git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المهمة إلى الدمج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424160" y="1965960"/>
            <a:ext cx="1051560" cy="1051560"/>
          </a:xfrm>
          <a:prstGeom prst="ellipse">
            <a:avLst/>
          </a:prstGeom>
          <a:solidFill>
            <a:srgbClr val="1E3268"/>
          </a:solidFill>
          <a:ln w="12700">
            <a:solidFill>
              <a:srgbClr val="D4A24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56" y="2276856"/>
            <a:ext cx="429768" cy="4297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241280" y="31272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Issue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0241280" y="3401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مهمة موصوفة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0058400" y="2468880"/>
            <a:ext cx="320040" cy="36576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9" name="Shape 6"/>
          <p:cNvSpPr/>
          <p:nvPr/>
        </p:nvSpPr>
        <p:spPr>
          <a:xfrm>
            <a:off x="8933688" y="1965960"/>
            <a:ext cx="1051560" cy="1051560"/>
          </a:xfrm>
          <a:prstGeom prst="ellipse">
            <a:avLst/>
          </a:prstGeom>
          <a:solidFill>
            <a:srgbClr val="1E3268"/>
          </a:solidFill>
          <a:ln w="12700">
            <a:solidFill>
              <a:srgbClr val="D4A24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584" y="2276856"/>
            <a:ext cx="429768" cy="4297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750808" y="31272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Branch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750808" y="3401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فرع باسم المهمة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567928" y="2468880"/>
            <a:ext cx="320040" cy="36576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4" name="Shape 10"/>
          <p:cNvSpPr/>
          <p:nvPr/>
        </p:nvSpPr>
        <p:spPr>
          <a:xfrm>
            <a:off x="7443216" y="1965960"/>
            <a:ext cx="1051560" cy="1051560"/>
          </a:xfrm>
          <a:prstGeom prst="ellipse">
            <a:avLst/>
          </a:prstGeom>
          <a:solidFill>
            <a:srgbClr val="1E3268"/>
          </a:solidFill>
          <a:ln w="12700">
            <a:solidFill>
              <a:srgbClr val="D4A24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2276856"/>
            <a:ext cx="429768" cy="4297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60336" y="31272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Commit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7260336" y="3401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رسالة منضبطة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077456" y="2468880"/>
            <a:ext cx="320040" cy="36576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9" name="Shape 14"/>
          <p:cNvSpPr/>
          <p:nvPr/>
        </p:nvSpPr>
        <p:spPr>
          <a:xfrm>
            <a:off x="5952744" y="1965960"/>
            <a:ext cx="1051560" cy="1051560"/>
          </a:xfrm>
          <a:prstGeom prst="ellipse">
            <a:avLst/>
          </a:prstGeom>
          <a:solidFill>
            <a:srgbClr val="1E3268"/>
          </a:solidFill>
          <a:ln w="12700">
            <a:solidFill>
              <a:srgbClr val="D4A24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276856"/>
            <a:ext cx="429768" cy="4297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9864" y="31272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Push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769864" y="3401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الفرع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586984" y="2468880"/>
            <a:ext cx="320040" cy="36576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24" name="Shape 18"/>
          <p:cNvSpPr/>
          <p:nvPr/>
        </p:nvSpPr>
        <p:spPr>
          <a:xfrm>
            <a:off x="4462272" y="1965960"/>
            <a:ext cx="1051560" cy="1051560"/>
          </a:xfrm>
          <a:prstGeom prst="ellipse">
            <a:avLst/>
          </a:prstGeom>
          <a:solidFill>
            <a:srgbClr val="1E3268"/>
          </a:solidFill>
          <a:ln w="12700">
            <a:solidFill>
              <a:srgbClr val="D4A24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276856"/>
            <a:ext cx="429768" cy="4297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279392" y="31272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Pull Request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4279392" y="3401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المراجعة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096512" y="2468880"/>
            <a:ext cx="320040" cy="36576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29" name="Shape 22"/>
          <p:cNvSpPr/>
          <p:nvPr/>
        </p:nvSpPr>
        <p:spPr>
          <a:xfrm>
            <a:off x="2971800" y="1965960"/>
            <a:ext cx="1051560" cy="1051560"/>
          </a:xfrm>
          <a:prstGeom prst="ellipse">
            <a:avLst/>
          </a:prstGeom>
          <a:solidFill>
            <a:srgbClr val="1E3268"/>
          </a:solidFill>
          <a:ln w="12700">
            <a:solidFill>
              <a:srgbClr val="D4A24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2696" y="2276856"/>
            <a:ext cx="429768" cy="42976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788920" y="31272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Review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2788920" y="3401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المراجع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2606040" y="2468880"/>
            <a:ext cx="320040" cy="36576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4" name="Shape 26"/>
          <p:cNvSpPr/>
          <p:nvPr/>
        </p:nvSpPr>
        <p:spPr>
          <a:xfrm>
            <a:off x="1481328" y="1965960"/>
            <a:ext cx="1051560" cy="1051560"/>
          </a:xfrm>
          <a:prstGeom prst="ellipse">
            <a:avLst/>
          </a:prstGeom>
          <a:solidFill>
            <a:srgbClr val="1E3268"/>
          </a:solidFill>
          <a:ln w="12700">
            <a:solidFill>
              <a:srgbClr val="D4A24C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2224" y="2276856"/>
            <a:ext cx="429768" cy="42976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298448" y="31272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Merge</a:t>
            </a:r>
            <a:endParaRPr lang="en-US" sz="1250" dirty="0"/>
          </a:p>
        </p:txBody>
      </p:sp>
      <p:sp>
        <p:nvSpPr>
          <p:cNvPr id="37" name="Text 28"/>
          <p:cNvSpPr txBox="1"/>
          <p:nvPr/>
        </p:nvSpPr>
        <p:spPr>
          <a:xfrm>
            <a:off x="1298448" y="3401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دمج وإغلاق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640080" y="411480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1E3268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914400" y="431596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A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feat(domain): add AddSubscription use case with validation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914400" y="47091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النوع(النطاق): وصف موجز بصيغة الأمر، ثم تفصيل مختصر، ثم Refs #9 في التذييل. الأنواع المعتمدة: feat · fix · test · refactor · docs · chore · style · perf.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ممنوع: «تحديث» و«إصلاح» و«نهائي» — رسائل لا تخبر القارئ بشيء بعد أسبوع.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الحوكمة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حماية الفرع الرئيسي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27080" y="1737360"/>
            <a:ext cx="566928" cy="566928"/>
          </a:xfrm>
          <a:prstGeom prst="ellipse">
            <a:avLst/>
          </a:prstGeom>
          <a:solidFill>
            <a:srgbClr val="1522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18745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71907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منع الدفع المباشر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208483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أحد يكتب على main مباشرة، ولا حتى قائد الفريق. كل تغيير يمر بطلب دمج.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212080" y="1737360"/>
            <a:ext cx="566928" cy="566928"/>
          </a:xfrm>
          <a:prstGeom prst="ellipse">
            <a:avLst/>
          </a:prstGeom>
          <a:solidFill>
            <a:srgbClr val="15224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87452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171907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معتمدة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208483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موافقة مراجع واحد على الأقل، واثنان للمهام المعمارية.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10927080" y="3200400"/>
            <a:ext cx="566928" cy="566928"/>
          </a:xfrm>
          <a:prstGeom prst="ellipse">
            <a:avLst/>
          </a:prstGeom>
          <a:solidFill>
            <a:srgbClr val="15224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33756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46520" y="318211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إسقاط الموافقات القديمة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46520" y="354787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دفعة جديدة تُلغي الموافقة السابقة، فلا تُعتمد شيفرة تغيّرت بعد قراءتها.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212080" y="3200400"/>
            <a:ext cx="566928" cy="566928"/>
          </a:xfrm>
          <a:prstGeom prst="ellipse">
            <a:avLst/>
          </a:prstGeom>
          <a:solidFill>
            <a:srgbClr val="15224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333756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" y="318211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فحوص إلزامية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731520" y="354787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التنسيق والتحليل والاختبارات والتغطية شرط للدمج لا توصية.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10927080" y="4663440"/>
            <a:ext cx="566928" cy="566928"/>
          </a:xfrm>
          <a:prstGeom prst="ellipse">
            <a:avLst/>
          </a:prstGeom>
          <a:solidFill>
            <a:srgbClr val="15224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480060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46520" y="464515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إغلاق النقاشات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46520" y="501091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دمج وثمة ملاحظة مراجعة معلّقة بلا رد.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5212080" y="4663440"/>
            <a:ext cx="566928" cy="566928"/>
          </a:xfrm>
          <a:prstGeom prst="ellipse">
            <a:avLst/>
          </a:prstGeom>
          <a:solidFill>
            <a:srgbClr val="15224A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4800600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31520" y="464515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استثناءات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731520" y="501091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تُفعَّل قاعدة منع التجاوز حتى تسري على أصحاب الصلاحيات أنفسهم.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6400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83"/>
                </a:solidFill>
              </a:rPr>
              <a:t>11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5486400" y="6400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Tracker · لوحة كانبان ودورة العمل التشاركية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الموافقة على الدمج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فحص المراجع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55080" y="1600200"/>
            <a:ext cx="5166360" cy="3520440"/>
          </a:xfrm>
          <a:prstGeom prst="roundRect">
            <a:avLst>
              <a:gd name="adj" fmla="val 2597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186537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0" y="1810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الملفات المتغيرة تخص المهمة وحدها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41401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83680" y="23591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الدومين خالية من استيرادات محظورة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296265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583680" y="29077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اتجاه التبعية سليم نحو الداخل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3511296"/>
            <a:ext cx="237744" cy="2377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583680" y="3456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فصل الجدول وكائن الوصول والمستودع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4059936"/>
            <a:ext cx="237744" cy="23774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583680" y="40050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الاستثناءات إلى إخفاقات دومين</a:t>
            </a:r>
            <a:endParaRPr lang="en-US" sz="12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0" y="4608576"/>
            <a:ext cx="237744" cy="237744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6583680" y="45537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منطق جديد له اختبار</a:t>
            </a:r>
            <a:endParaRPr lang="en-US" sz="1250" dirty="0"/>
          </a:p>
        </p:txBody>
      </p:sp>
      <p:sp>
        <p:nvSpPr>
          <p:cNvPr id="17" name="Shape 9"/>
          <p:cNvSpPr/>
          <p:nvPr/>
        </p:nvSpPr>
        <p:spPr>
          <a:xfrm>
            <a:off x="640080" y="1600200"/>
            <a:ext cx="5166360" cy="3520440"/>
          </a:xfrm>
          <a:prstGeom prst="roundRect">
            <a:avLst>
              <a:gd name="adj" fmla="val 2597"/>
            </a:avLst>
          </a:prstGeom>
          <a:solidFill>
            <a:srgbClr val="F4F7FC"/>
          </a:solidFill>
          <a:ln w="12700">
            <a:solidFill>
              <a:srgbClr val="D9E1EE"/>
            </a:solidFill>
            <a:prstDash val="solid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1865376"/>
            <a:ext cx="237744" cy="237744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868680" y="1810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حالات الحافة مغطاة بمعرّفاتها</a:t>
            </a:r>
            <a:endParaRPr lang="en-US" sz="12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2414016"/>
            <a:ext cx="237744" cy="237744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868680" y="23591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التسمية معبّرة بلا اختصارات غامضة</a:t>
            </a:r>
            <a:endParaRPr lang="en-US" sz="12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240" y="2962656"/>
            <a:ext cx="237744" cy="237744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868680" y="29077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تكرار منسوخ لمنطق قائم</a:t>
            </a:r>
            <a:endParaRPr lang="en-US" sz="12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9240" y="3511296"/>
            <a:ext cx="237744" cy="237744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868680" y="3456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استعلام داخل حلقة ولا عمل ثقيل على الخيط الرئيسي</a:t>
            </a:r>
            <a:endParaRPr lang="en-US" sz="12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9240" y="4059936"/>
            <a:ext cx="237744" cy="237744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868680" y="40050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الشاشة تغطي حالاتها الأربع وتستوفي الوصولية</a:t>
            </a:r>
            <a:endParaRPr lang="en-US" sz="125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49240" y="4608576"/>
            <a:ext cx="237744" cy="237744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868680" y="45537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الوثيقة المتأثرة محدَّثة</a:t>
            </a:r>
            <a:endParaRPr lang="en-US" sz="1250" dirty="0"/>
          </a:p>
        </p:txBody>
      </p:sp>
      <p:sp>
        <p:nvSpPr>
          <p:cNvPr id="30" name="Text 16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آداب المراجعة: علّق على الكود لا على الشخص، واقترح بديلاً محدداً، وميّز الإلزامي من الرأي. والمراجع لا يوافق على ما لم يفهمه.</a:t>
            </a:r>
            <a:endParaRPr lang="en-US" sz="1350" dirty="0"/>
          </a:p>
        </p:txBody>
      </p:sp>
      <p:sp>
        <p:nvSpPr>
          <p:cNvPr id="31" name="Text 17"/>
          <p:cNvSpPr txBox="1"/>
          <p:nvPr/>
        </p:nvSpPr>
        <p:spPr>
          <a:xfrm>
            <a:off x="6400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83"/>
                </a:solidFill>
              </a:rPr>
              <a:t>12</a:t>
            </a:r>
            <a:endParaRPr lang="en-US" sz="1000" dirty="0"/>
          </a:p>
        </p:txBody>
      </p:sp>
      <p:sp>
        <p:nvSpPr>
          <p:cNvPr id="32" name="Text 18"/>
          <p:cNvSpPr txBox="1"/>
          <p:nvPr/>
        </p:nvSpPr>
        <p:spPr>
          <a:xfrm>
            <a:off x="5486400" y="6400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Tracker · لوحة كانبان ودورة العمل التشاركية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تنتقل البطاقة إلى Done؟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تعريف الإنجاز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55080" y="1691640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1865376"/>
            <a:ext cx="420624" cy="420624"/>
          </a:xfrm>
          <a:prstGeom prst="ellipse">
            <a:avLst/>
          </a:prstGeom>
          <a:solidFill>
            <a:srgbClr val="DCE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35640" y="192024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4A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874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تحقق معايير القبول كاملة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1865376"/>
            <a:ext cx="420624" cy="420624"/>
          </a:xfrm>
          <a:prstGeom prst="ellipse">
            <a:avLst/>
          </a:prstGeom>
          <a:solidFill>
            <a:srgbClr val="DCE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192024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4A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1874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تغطية حالات الحافة باختبارات ناجحة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2606040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35640" y="2779776"/>
            <a:ext cx="420624" cy="420624"/>
          </a:xfrm>
          <a:prstGeom prst="ellipse">
            <a:avLst/>
          </a:prstGeom>
          <a:solidFill>
            <a:srgbClr val="DCE6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835640" y="283464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4A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788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خلو التحليل الساكن من التحذيرات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2606040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2779776"/>
            <a:ext cx="420624" cy="420624"/>
          </a:xfrm>
          <a:prstGeom prst="ellipse">
            <a:avLst/>
          </a:prstGeom>
          <a:solidFill>
            <a:srgbClr val="DCE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20640" y="283464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4A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2788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نجاح كل الاختبارات وبقاء التغطية في حدودها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55080" y="3520440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35640" y="3694176"/>
            <a:ext cx="420624" cy="420624"/>
          </a:xfrm>
          <a:prstGeom prst="ellipse">
            <a:avLst/>
          </a:prstGeom>
          <a:solidFill>
            <a:srgbClr val="DCE6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835640" y="374904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4A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703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مراجع واحد على الأقل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3520440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3694176"/>
            <a:ext cx="420624" cy="420624"/>
          </a:xfrm>
          <a:prstGeom prst="ellipse">
            <a:avLst/>
          </a:prstGeom>
          <a:solidFill>
            <a:srgbClr val="DCE6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20640" y="374904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4A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3703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مرور التغيير عبر طلب دمج لا دفع مباشر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355080" y="4434840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35640" y="4608576"/>
            <a:ext cx="420624" cy="420624"/>
          </a:xfrm>
          <a:prstGeom prst="ellipse">
            <a:avLst/>
          </a:prstGeom>
          <a:solidFill>
            <a:srgbClr val="DCE6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835640" y="466344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4A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4617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تحديث الوثائق المتأثرة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40080" y="4434840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4608576"/>
            <a:ext cx="420624" cy="420624"/>
          </a:xfrm>
          <a:prstGeom prst="ellipse">
            <a:avLst/>
          </a:prstGeom>
          <a:solidFill>
            <a:srgbClr val="DCE6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120640" y="466344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4A"/>
                </a:solidFill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4617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تحديث سجل استخدام الذكاء الاصطناعي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وما لم تتحقق هذه الشروط مجتمعة فالبطاقة ليست منجَزة، مهما بدا العمل مكتملاً في نظر صاحبه.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83"/>
                </a:solidFill>
              </a:rPr>
              <a:t>13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0" y="6400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Tracker · لوحة كانبان ودورة العمل التشاركية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754880" cy="4754880"/>
          </a:xfrm>
          <a:prstGeom prst="ellipse">
            <a:avLst/>
          </a:prstGeom>
          <a:solidFill>
            <a:srgbClr val="1E32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خلاصة الجلسة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 المرئي وحده هو الذي يمكن إدارته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001000" y="30175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1E3268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3218688"/>
            <a:ext cx="512064" cy="512064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16" y="33467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واحدة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3749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العمل مرئية للجميع في لحظة، فلا يتكرر جهد ولا يُنسى بند.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30175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1E3268"/>
          </a:solidFill>
          <a:ln/>
        </p:spPr>
      </p:sp>
      <p:sp>
        <p:nvSpPr>
          <p:cNvPr id="11" name="Shape 8"/>
          <p:cNvSpPr/>
          <p:nvPr/>
        </p:nvSpPr>
        <p:spPr>
          <a:xfrm>
            <a:off x="7040880" y="3218688"/>
            <a:ext cx="512064" cy="512064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896" y="334670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2628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واحد للتغيير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3749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مهمة ← فرع ← التزام ← طلب دمج ← مراجعة ← دمج. بلا استثناء.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30175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1E3268"/>
          </a:solidFill>
          <a:ln/>
        </p:spPr>
      </p:sp>
      <p:sp>
        <p:nvSpPr>
          <p:cNvPr id="16" name="Shape 12"/>
          <p:cNvSpPr/>
          <p:nvPr/>
        </p:nvSpPr>
        <p:spPr>
          <a:xfrm>
            <a:off x="3337560" y="3218688"/>
            <a:ext cx="512064" cy="512064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76" y="334670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تعريف واحد للإنجاز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3749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ثمانية شروط مكتوبة تحسم الخلاف قبل أن يبدأ.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لكم · فريق Sub Tracker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2026-09-18T00:08:07Z</dcterms:created>
  <dcterms:modified xsi:type="dcterms:W3CDTF">2026-09-18T00:08:07Z</dcterms:modified>
</cp:coreProperties>
</file>